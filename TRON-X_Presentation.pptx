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2926080"/>
            <a:ext cx="4754880" cy="4754880"/>
          </a:xfrm>
          <a:prstGeom prst="ellipse">
            <a:avLst/>
          </a:prstGeom>
          <a:solidFill>
            <a:srgbClr val="1C2F4D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3840480"/>
            <a:ext cx="2926080" cy="2926080"/>
          </a:xfrm>
          <a:prstGeom prst="ellipse">
            <a:avLst/>
          </a:prstGeom>
          <a:solidFill>
            <a:srgbClr val="22D3EE">
              <a:alpha val="12000"/>
            </a:srgbClr>
          </a:solidFill>
          <a:ln w="12700">
            <a:solidFill>
              <a:srgbClr val="22D3EE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424160" y="4572000"/>
            <a:ext cx="1463040" cy="1463040"/>
          </a:xfrm>
          <a:prstGeom prst="ellipse">
            <a:avLst/>
          </a:prstGeom>
          <a:ln w="19050">
            <a:solidFill>
              <a:srgbClr val="2DD4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371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 PROJECT PRESENTATION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1737360"/>
            <a:ext cx="9144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TRON-X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822960" y="306324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Self-Hosted, Multi-Agent AI Assistant for Windows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22960" y="37033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FastAPI server with voice, vision, memory, multi-LLM routing, and autonomous task agents — a personal JARVIS/FRIDAY-style platform.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22960" y="5120640"/>
            <a:ext cx="4937760" cy="1234440"/>
          </a:xfrm>
          <a:prstGeom prst="roundRect">
            <a:avLst>
              <a:gd name="adj" fmla="val 5926"/>
            </a:avLst>
          </a:prstGeom>
          <a:solidFill>
            <a:srgbClr val="16263F"/>
          </a:solidFill>
          <a:ln/>
          <a:effectLst>
            <a:outerShdw sx="100000" sy="100000" kx="0" ky="0" algn="bl" rotWithShape="0" blurRad="63500" dist="25400" dir="27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051560" y="5349240"/>
            <a:ext cx="777240" cy="77724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1" name="Text 9"/>
          <p:cNvSpPr/>
          <p:nvPr/>
        </p:nvSpPr>
        <p:spPr>
          <a:xfrm>
            <a:off x="1051560" y="53492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VS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011680" y="530352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Vishnu Sharma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B.Tech, Computer Science &amp; Engineering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K.S.R.M. College of Engineering (Autonomous), Kadapa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TRON-X — Self-Hosted Autonomous AI Assistant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OVERVIEW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&amp; Motivation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64008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TRON-X?</a:t>
            </a:r>
            <a:endParaRPr lang="en-US" sz="1800" dirty="0"/>
          </a:p>
          <a:p>
            <a:pPr indent="0" marL="0">
              <a:lnSpc>
                <a:spcPct val="110000"/>
              </a:lnSpc>
              <a:spcAft>
                <a:spcPts val="1400"/>
              </a:spcAft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TRON-X is a self-hosted personal AI assistant inspired by JARVIS / FRIDAY from Iron Man. It runs entirely on a local machine, exposes a REST API built with FastAPI, and is controlled through a Three.js HUD or by voice.</a:t>
            </a:r>
            <a:endParaRPr lang="en-US" sz="1800" dirty="0"/>
          </a:p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build it?</a:t>
            </a:r>
            <a:endParaRPr lang="en-US" sz="1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AI assistants are cloud-only, single-purpose, and lock users into one vendor. TRON-X explores what a unified, privacy-respecting, multi-agent assistant could look like when it runs on hardware you own.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0" y="1783080"/>
            <a:ext cx="4297680" cy="1078992"/>
          </a:xfrm>
          <a:prstGeom prst="roundRect">
            <a:avLst>
              <a:gd name="adj" fmla="val 6780"/>
            </a:avLst>
          </a:prstGeom>
          <a:solidFill>
            <a:srgbClr val="16263F"/>
          </a:solidFill>
          <a:ln/>
          <a:effectLst>
            <a:outerShdw sx="100000" sy="100000" kx="0" ky="0" algn="bl" rotWithShape="0" blurRad="63500" dist="25400" dir="27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543800" y="1984248"/>
            <a:ext cx="640080" cy="64008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7" name="Text 5"/>
          <p:cNvSpPr/>
          <p:nvPr/>
        </p:nvSpPr>
        <p:spPr>
          <a:xfrm>
            <a:off x="7543800" y="198424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366760" y="1856232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Privacy-first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data, memory and models can run fully on local hardware.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0" y="3008376"/>
            <a:ext cx="4297680" cy="1078992"/>
          </a:xfrm>
          <a:prstGeom prst="roundRect">
            <a:avLst>
              <a:gd name="adj" fmla="val 6780"/>
            </a:avLst>
          </a:prstGeom>
          <a:solidFill>
            <a:srgbClr val="16263F"/>
          </a:solidFill>
          <a:ln/>
          <a:effectLst>
            <a:outerShdw sx="100000" sy="100000" kx="0" ky="0" algn="bl" rotWithShape="0" blurRad="63500" dist="25400" dir="27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543800" y="3209544"/>
            <a:ext cx="640080" cy="64008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1" name="Text 9"/>
          <p:cNvSpPr/>
          <p:nvPr/>
        </p:nvSpPr>
        <p:spPr>
          <a:xfrm>
            <a:off x="7543800" y="320954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8366760" y="3081528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assistant, many domains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Chat, voice, vision, email, calendar, IoT and automation in a single system.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15200" y="4233672"/>
            <a:ext cx="4297680" cy="1078992"/>
          </a:xfrm>
          <a:prstGeom prst="roundRect">
            <a:avLst>
              <a:gd name="adj" fmla="val 6780"/>
            </a:avLst>
          </a:prstGeom>
          <a:solidFill>
            <a:srgbClr val="16263F"/>
          </a:solidFill>
          <a:ln/>
          <a:effectLst>
            <a:outerShdw sx="100000" sy="100000" kx="0" ky="0" algn="bl" rotWithShape="0" blurRad="63500" dist="25400" dir="27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543800" y="4434840"/>
            <a:ext cx="640080" cy="64008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5" name="Text 13"/>
          <p:cNvSpPr/>
          <p:nvPr/>
        </p:nvSpPr>
        <p:spPr>
          <a:xfrm>
            <a:off x="7543800" y="4434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366760" y="4306824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vendor lock-in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requests across 14 LLM providers and 100+ models.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315200" y="5458968"/>
            <a:ext cx="4297680" cy="1078992"/>
          </a:xfrm>
          <a:prstGeom prst="roundRect">
            <a:avLst>
              <a:gd name="adj" fmla="val 6780"/>
            </a:avLst>
          </a:prstGeom>
          <a:solidFill>
            <a:srgbClr val="16263F"/>
          </a:solidFill>
          <a:ln/>
          <a:effectLst>
            <a:outerShdw sx="100000" sy="100000" kx="0" ky="0" algn="bl" rotWithShape="0" blurRad="63500" dist="25400" dir="27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543800" y="5660136"/>
            <a:ext cx="640080" cy="64008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9" name="Text 17"/>
          <p:cNvSpPr/>
          <p:nvPr/>
        </p:nvSpPr>
        <p:spPr>
          <a:xfrm>
            <a:off x="7543800" y="566013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366760" y="553212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available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as a background service — accessible from any device on the network.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TRON-X — Self-Hosted Autonomous AI Assistant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GOALS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611880" cy="2331720"/>
          </a:xfrm>
          <a:prstGeom prst="roundRect">
            <a:avLst>
              <a:gd name="adj" fmla="val 3137"/>
            </a:avLst>
          </a:prstGeom>
          <a:solidFill>
            <a:srgbClr val="16263F"/>
          </a:solidFill>
          <a:ln/>
          <a:effectLst>
            <a:outerShdw sx="100000" sy="100000" kx="0" ky="0" algn="bl" rotWithShape="0" blurRad="63500" dist="25400" dir="27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011680"/>
            <a:ext cx="640080" cy="64008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①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68680" y="274320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Unified Multi-LLM Routing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SmartRouter that intelligently dispatches requests across 100+ models from 14 providers with automatic fallback and circuit-breaking.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480560" y="1783080"/>
            <a:ext cx="3611880" cy="2331720"/>
          </a:xfrm>
          <a:prstGeom prst="roundRect">
            <a:avLst>
              <a:gd name="adj" fmla="val 3137"/>
            </a:avLst>
          </a:prstGeom>
          <a:solidFill>
            <a:srgbClr val="16263F"/>
          </a:solidFill>
          <a:ln/>
          <a:effectLst>
            <a:outerShdw sx="100000" sy="100000" kx="0" ky="0" algn="bl" rotWithShape="0" blurRad="63500" dist="25400" dir="27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2011680"/>
            <a:ext cx="640080" cy="64008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1" name="Text 9"/>
          <p:cNvSpPr/>
          <p:nvPr/>
        </p:nvSpPr>
        <p:spPr>
          <a:xfrm>
            <a:off x="4709160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②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Persistent, Context-Aware Memory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709160" y="324612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a RAG pipeline over ChromaDB so the assistant recalls past conversations, documents and facts.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321040" y="1783080"/>
            <a:ext cx="3611880" cy="2331720"/>
          </a:xfrm>
          <a:prstGeom prst="roundRect">
            <a:avLst>
              <a:gd name="adj" fmla="val 3137"/>
            </a:avLst>
          </a:prstGeom>
          <a:solidFill>
            <a:srgbClr val="16263F"/>
          </a:solidFill>
          <a:ln/>
          <a:effectLst>
            <a:outerShdw sx="100000" sy="100000" kx="0" ky="0" algn="bl" rotWithShape="0" blurRad="63500" dist="25400" dir="27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549640" y="2011680"/>
            <a:ext cx="640080" cy="64008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6" name="Text 14"/>
          <p:cNvSpPr/>
          <p:nvPr/>
        </p:nvSpPr>
        <p:spPr>
          <a:xfrm>
            <a:off x="8549640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③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549640" y="274320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Autonomous Multi-Agent Execution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549640" y="324612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coordinator that can run research, browser, code, vision, email and scheduling agents in parallel or sequence.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4343400"/>
            <a:ext cx="3611880" cy="2331720"/>
          </a:xfrm>
          <a:prstGeom prst="roundRect">
            <a:avLst>
              <a:gd name="adj" fmla="val 3137"/>
            </a:avLst>
          </a:prstGeom>
          <a:solidFill>
            <a:srgbClr val="16263F"/>
          </a:solidFill>
          <a:ln/>
          <a:effectLst>
            <a:outerShdw sx="100000" sy="100000" kx="0" ky="0" algn="bl" rotWithShape="0" blurRad="63500" dist="25400" dir="27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68680" y="4572000"/>
            <a:ext cx="640080" cy="64008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4572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④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868680" y="530352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Natural Voice &amp; Vision I/O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68680" y="580644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low-latency speech in/out and screen understanding (OCR + vision LLMs) for hands-free use.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480560" y="4343400"/>
            <a:ext cx="3611880" cy="2331720"/>
          </a:xfrm>
          <a:prstGeom prst="roundRect">
            <a:avLst>
              <a:gd name="adj" fmla="val 3137"/>
            </a:avLst>
          </a:prstGeom>
          <a:solidFill>
            <a:srgbClr val="16263F"/>
          </a:solidFill>
          <a:ln/>
          <a:effectLst>
            <a:outerShdw sx="100000" sy="100000" kx="0" ky="0" algn="bl" rotWithShape="0" blurRad="63500" dist="25400" dir="27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09160" y="4572000"/>
            <a:ext cx="640080" cy="64008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26" name="Text 24"/>
          <p:cNvSpPr/>
          <p:nvPr/>
        </p:nvSpPr>
        <p:spPr>
          <a:xfrm>
            <a:off x="4709160" y="4572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⑤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4709160" y="530352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Smart-Home &amp; Productivity Integration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709160" y="580644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to Home Assistant/MQTT, Google Calendar and email for real-world automation.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321040" y="4343400"/>
            <a:ext cx="3611880" cy="2331720"/>
          </a:xfrm>
          <a:prstGeom prst="roundRect">
            <a:avLst>
              <a:gd name="adj" fmla="val 3137"/>
            </a:avLst>
          </a:prstGeom>
          <a:solidFill>
            <a:srgbClr val="16263F"/>
          </a:solidFill>
          <a:ln/>
          <a:effectLst>
            <a:outerShdw sx="100000" sy="100000" kx="0" ky="0" algn="bl" rotWithShape="0" blurRad="63500" dist="25400" dir="270000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549640" y="4572000"/>
            <a:ext cx="640080" cy="64008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31" name="Text 29"/>
          <p:cNvSpPr/>
          <p:nvPr/>
        </p:nvSpPr>
        <p:spPr>
          <a:xfrm>
            <a:off x="8549640" y="4572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⑥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8549640" y="530352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Production-Ready Engineering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549640" y="580644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authentication, rate-limiting, Docker/systemd deployment and a sandboxed code executor for safety.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TRON-X — Self-Hosted Autonomous AI Assistant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DESIGN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463040" y="1600200"/>
            <a:ext cx="9235440" cy="786384"/>
          </a:xfrm>
          <a:prstGeom prst="roundRect">
            <a:avLst>
              <a:gd name="adj" fmla="val 9302"/>
            </a:avLst>
          </a:prstGeom>
          <a:solidFill>
            <a:srgbClr val="1C2F4D"/>
          </a:solidFill>
          <a:ln/>
          <a:effectLst>
            <a:outerShdw sx="100000" sy="100000" kx="0" ky="0" algn="bl" rotWithShape="0" blurRad="63500" dist="25400" dir="27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627632" y="1741932"/>
            <a:ext cx="502920" cy="50292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6" name="Text 4"/>
          <p:cNvSpPr/>
          <p:nvPr/>
        </p:nvSpPr>
        <p:spPr>
          <a:xfrm>
            <a:off x="1627632" y="17419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286000" y="167335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 — Three.js HUD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286000" y="2011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Browser-based dashboard · chat, voice controls, session view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897880" y="235000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D3EE"/>
                </a:solidFill>
              </a:rPr>
              <a:t>▼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463040" y="2528316"/>
            <a:ext cx="9235440" cy="786384"/>
          </a:xfrm>
          <a:prstGeom prst="roundRect">
            <a:avLst>
              <a:gd name="adj" fmla="val 9302"/>
            </a:avLst>
          </a:prstGeom>
          <a:solidFill>
            <a:srgbClr val="1C2F4D"/>
          </a:solidFill>
          <a:ln/>
          <a:effectLst>
            <a:outerShdw sx="100000" sy="100000" kx="0" ky="0" algn="bl" rotWithShape="0" blurRad="63500" dist="25400" dir="27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627632" y="2670048"/>
            <a:ext cx="502920" cy="50292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2" name="Text 10"/>
          <p:cNvSpPr/>
          <p:nvPr/>
        </p:nvSpPr>
        <p:spPr>
          <a:xfrm>
            <a:off x="1627632" y="26700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286000" y="260146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FastAPI Core (src/main.py)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286000" y="2939796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Routers, middleware, lifespan startup, auth &amp; rate limiting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897880" y="327812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D3EE"/>
                </a:solidFill>
              </a:rPr>
              <a:t>▼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463040" y="3456432"/>
            <a:ext cx="9235440" cy="786384"/>
          </a:xfrm>
          <a:prstGeom prst="roundRect">
            <a:avLst>
              <a:gd name="adj" fmla="val 9302"/>
            </a:avLst>
          </a:prstGeom>
          <a:solidFill>
            <a:srgbClr val="1C2F4D"/>
          </a:solidFill>
          <a:ln/>
          <a:effectLst>
            <a:outerShdw sx="100000" sy="100000" kx="0" ky="0" algn="bl" rotWithShape="0" blurRad="63500" dist="25400" dir="27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627632" y="3598164"/>
            <a:ext cx="502920" cy="50292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8" name="Text 16"/>
          <p:cNvSpPr/>
          <p:nvPr/>
        </p:nvSpPr>
        <p:spPr>
          <a:xfrm>
            <a:off x="1627632" y="35981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286000" y="352958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Intelligence Layer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2286000" y="386791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 · Intent Classifier · SmartRouter · Persona Engine · RAG · CoT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897880" y="420624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D3EE"/>
                </a:solidFill>
              </a:rPr>
              <a:t>▼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463040" y="4384548"/>
            <a:ext cx="9235440" cy="786384"/>
          </a:xfrm>
          <a:prstGeom prst="roundRect">
            <a:avLst>
              <a:gd name="adj" fmla="val 9302"/>
            </a:avLst>
          </a:prstGeom>
          <a:solidFill>
            <a:srgbClr val="1C2F4D"/>
          </a:solidFill>
          <a:ln/>
          <a:effectLst>
            <a:outerShdw sx="100000" sy="100000" kx="0" ky="0" algn="bl" rotWithShape="0" blurRad="63500" dist="25400" dir="27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1627632" y="4526280"/>
            <a:ext cx="502920" cy="50292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24" name="Text 22"/>
          <p:cNvSpPr/>
          <p:nvPr/>
        </p:nvSpPr>
        <p:spPr>
          <a:xfrm>
            <a:off x="1627632" y="4526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2286000" y="44577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Autonomous Agents Layer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2286000" y="479602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· Browser · Code · Vision · Calendar · Email · Scheduler · IoT · WhatsApp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897880" y="513435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D3EE"/>
                </a:solidFill>
              </a:rPr>
              <a:t>▼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1463040" y="5312664"/>
            <a:ext cx="9235440" cy="786384"/>
          </a:xfrm>
          <a:prstGeom prst="roundRect">
            <a:avLst>
              <a:gd name="adj" fmla="val 9302"/>
            </a:avLst>
          </a:prstGeom>
          <a:solidFill>
            <a:srgbClr val="1C2F4D"/>
          </a:solidFill>
          <a:ln/>
          <a:effectLst>
            <a:outerShdw sx="100000" sy="100000" kx="0" ky="0" algn="bl" rotWithShape="0" blurRad="63500" dist="25400" dir="2700000">
              <a:srgbClr val="000000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627632" y="5454396"/>
            <a:ext cx="502920" cy="50292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30" name="Text 28"/>
          <p:cNvSpPr/>
          <p:nvPr/>
        </p:nvSpPr>
        <p:spPr>
          <a:xfrm>
            <a:off x="1627632" y="54543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2286000" y="5385816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&amp; Integration Layer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2286000" y="5724144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(vector memory) · Supabase · Models (TTS/Embeddings) · Home Assistant · LLM Providers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TRON-X — Self-Hosted Autonomous AI Assistant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TOOLS &amp; FRAMEWORKS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10881360" cy="4754880"/>
        </p:xfrm>
        <a:graphic>
          <a:graphicData uri="http://schemas.openxmlformats.org/drawingml/2006/table">
            <a:tbl>
              <a:tblPr/>
              <a:tblGrid>
                <a:gridCol w="2377440"/>
                <a:gridCol w="3657600"/>
                <a:gridCol w="4846320"/>
              </a:tblGrid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D3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D3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D3EE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 Framework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C2F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FastAPI + Uvicorn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C2F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Async REST API, auto-generated OpenAPI docs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C2F4D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 Orchestration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6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LiteLLM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6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Unified interface to 100+ models / 14 providers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63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Vector Memory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C2F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ChromaDB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C2F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 semantic search &amp; RAG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C2F4D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Embeddings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6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SentenceTransformers (MiniLM-L6-v2)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6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384-dim, CPU-only embeddings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63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Voice STT / TTS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C2F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Groq Whisper / Kokoro-ONNX, ElevenLabs, edge-tts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C2F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Speech-to-text &amp; cascading text-to-speech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C2F4D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Browser Automation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6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Playwright (Chromium)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6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 research &amp; form automation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63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Scheduling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C2F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APScheduler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C2F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Cron jobs &amp; reminders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C2F4D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IoT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6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 Assistant REST + MQTT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6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Smart-home device control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63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Calendar / Email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C2F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Calendar API, IMAP/SMTP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C2F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Productivity integrations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C2F4D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6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Docker, docker-compose, systemd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6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Containerised &amp; service deployment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63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TRON-X — Self-Hosted Autonomous AI Assistant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SCALE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Codebase at a Glance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520440" cy="1463040"/>
          </a:xfrm>
          <a:prstGeom prst="roundRect">
            <a:avLst>
              <a:gd name="adj" fmla="val 5000"/>
            </a:avLst>
          </a:prstGeom>
          <a:solidFill>
            <a:srgbClr val="16263F"/>
          </a:solidFill>
          <a:ln/>
          <a:effectLst>
            <a:outerShdw sx="100000" sy="100000" kx="0" ky="0" algn="bl" rotWithShape="0" blurRad="63500" dist="25400" dir="27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901952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30,500+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272491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of Python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89120" y="1737360"/>
            <a:ext cx="3520440" cy="1463040"/>
          </a:xfrm>
          <a:prstGeom prst="roundRect">
            <a:avLst>
              <a:gd name="adj" fmla="val 5000"/>
            </a:avLst>
          </a:prstGeom>
          <a:solidFill>
            <a:srgbClr val="16263F"/>
          </a:solidFill>
          <a:ln/>
          <a:effectLst>
            <a:outerShdw sx="100000" sy="100000" kx="0" ky="0" algn="bl" rotWithShape="0" blurRad="63500" dist="25400" dir="27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389120" y="1901952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128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389120" y="272491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Modules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138160" y="1737360"/>
            <a:ext cx="3520440" cy="1463040"/>
          </a:xfrm>
          <a:prstGeom prst="roundRect">
            <a:avLst>
              <a:gd name="adj" fmla="val 5000"/>
            </a:avLst>
          </a:prstGeom>
          <a:solidFill>
            <a:srgbClr val="16263F"/>
          </a:solidFill>
          <a:ln/>
          <a:effectLst>
            <a:outerShdw sx="100000" sy="100000" kx="0" ky="0" algn="bl" rotWithShape="0" blurRad="63500" dist="25400" dir="27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138160" y="1901952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240+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8138160" y="272491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Endpoints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429000"/>
            <a:ext cx="3520440" cy="1463040"/>
          </a:xfrm>
          <a:prstGeom prst="roundRect">
            <a:avLst>
              <a:gd name="adj" fmla="val 5000"/>
            </a:avLst>
          </a:prstGeom>
          <a:solidFill>
            <a:srgbClr val="16263F"/>
          </a:solidFill>
          <a:ln/>
          <a:effectLst>
            <a:outerShdw sx="100000" sy="100000" kx="0" ky="0" algn="bl" rotWithShape="0" blurRad="63500" dist="25400" dir="27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0080" y="3593592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640080" y="441655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Phases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389120" y="3429000"/>
            <a:ext cx="3520440" cy="1463040"/>
          </a:xfrm>
          <a:prstGeom prst="roundRect">
            <a:avLst>
              <a:gd name="adj" fmla="val 5000"/>
            </a:avLst>
          </a:prstGeom>
          <a:solidFill>
            <a:srgbClr val="16263F"/>
          </a:solidFill>
          <a:ln/>
          <a:effectLst>
            <a:outerShdw sx="100000" sy="100000" kx="0" ky="0" algn="bl" rotWithShape="0" blurRad="63500" dist="25400" dir="27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389120" y="3593592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106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4389120" y="441655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Models Routed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138160" y="3429000"/>
            <a:ext cx="3520440" cy="1463040"/>
          </a:xfrm>
          <a:prstGeom prst="roundRect">
            <a:avLst>
              <a:gd name="adj" fmla="val 5000"/>
            </a:avLst>
          </a:prstGeom>
          <a:solidFill>
            <a:srgbClr val="16263F"/>
          </a:solidFill>
          <a:ln/>
          <a:effectLst>
            <a:outerShdw sx="100000" sy="100000" kx="0" ky="0" algn="bl" rotWithShape="0" blurRad="63500" dist="25400" dir="270000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138160" y="3593592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4000" dirty="0"/>
          </a:p>
        </p:txBody>
      </p:sp>
      <p:sp>
        <p:nvSpPr>
          <p:cNvPr id="21" name="Text 19"/>
          <p:cNvSpPr/>
          <p:nvPr/>
        </p:nvSpPr>
        <p:spPr>
          <a:xfrm>
            <a:off x="8138160" y="441655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Providers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955280" y="1737360"/>
            <a:ext cx="3611880" cy="4983480"/>
          </a:xfrm>
          <a:prstGeom prst="roundRect">
            <a:avLst>
              <a:gd name="adj" fmla="val 2025"/>
            </a:avLst>
          </a:prstGeom>
          <a:solidFill>
            <a:srgbClr val="1C2F4D"/>
          </a:solidFill>
          <a:ln/>
          <a:effectLst>
            <a:outerShdw sx="100000" sy="100000" kx="0" ky="0" algn="bl" rotWithShape="0" blurRad="63500" dist="25400" dir="2700000">
              <a:srgbClr val="000000">
                <a:alpha val="2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183880" y="1874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Top-Level Folder Structure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183880" y="2286000"/>
            <a:ext cx="32918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core/        config, logging, auth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intelligence/ router, orchestrator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api/         14 endpoint groups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agents/      13 autonomous agents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memory/       ChromaDB + RAG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system/       OS control, sandbox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voice/ vision/ iot/ feeds/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config/    models, personas, settings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static/    Three.js HUD frontend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deploy/    systemd service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Dockerfile, docker-compose.yml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40080" y="5166360"/>
            <a:ext cx="6812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Spanning 6 major subsystems — intelligence, agents, memory, voice/vision, IoT, and a Three.js HUD — built incrementally across 20 development phases.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TRON-X — Self-Hosted Autonomous AI Assistant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LLM ORCHESTRATION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SmartRouter — The Multi-Model Brain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chat request is classified into a task category, then routed through an ordered chain of models. If a model fails or is rate-limited, the router automatically falls back to the next one in the chain.</a:t>
            </a:r>
            <a:endParaRPr lang="en-US" sz="13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331720"/>
          <a:ext cx="6035040" cy="2926080"/>
        </p:xfrm>
        <a:graphic>
          <a:graphicData uri="http://schemas.openxmlformats.org/drawingml/2006/table">
            <a:tbl>
              <a:tblPr/>
              <a:tblGrid>
                <a:gridCol w="1828800"/>
                <a:gridCol w="2468880"/>
                <a:gridCol w="1737360"/>
              </a:tblGrid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Model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Case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DD4B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2D3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fast_chat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C2F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Groq Llama-3.3-70B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C2F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Everyday chat — fast &amp; cheap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C2F4D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2D3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reasoning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6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DeepSeek-R1 (Together AI)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6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Math, logic, medical reasoning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63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2D3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C2F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Qwen2.5-Coder-32B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C2F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 generation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C2F4D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2D3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6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Gemini 2.0 Flash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6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Screen / image analysis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63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2D3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long_context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C2F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Gemma-3-27B (OpenRouter)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C2F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Research, long documents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C2F4D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2D3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academic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6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DeepSeek-R1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6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Technical &amp; academic writing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63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995160" y="2331720"/>
            <a:ext cx="4526280" cy="2971800"/>
          </a:xfrm>
          <a:prstGeom prst="roundRect">
            <a:avLst>
              <a:gd name="adj" fmla="val 2462"/>
            </a:avLst>
          </a:prstGeom>
          <a:solidFill>
            <a:srgbClr val="16263F"/>
          </a:solidFill>
          <a:ln/>
          <a:effectLst>
            <a:outerShdw sx="100000" sy="100000" kx="0" ky="0" algn="bl" rotWithShape="0" blurRad="63500" dist="25400" dir="2700000">
              <a:srgbClr val="000000">
                <a:alpha val="2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223760" y="24688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Fallback Chain (example: fast_chat)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7315200" y="2880360"/>
            <a:ext cx="3931920" cy="384048"/>
          </a:xfrm>
          <a:prstGeom prst="roundRect">
            <a:avLst>
              <a:gd name="adj" fmla="val 14286"/>
            </a:avLst>
          </a:prstGeom>
          <a:solidFill>
            <a:srgbClr val="22D3EE"/>
          </a:solidFill>
          <a:ln/>
        </p:spPr>
      </p:sp>
      <p:sp>
        <p:nvSpPr>
          <p:cNvPr id="9" name="Text 6"/>
          <p:cNvSpPr/>
          <p:nvPr/>
        </p:nvSpPr>
        <p:spPr>
          <a:xfrm>
            <a:off x="7315200" y="288036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Llama-3.3-70B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315200" y="3264408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▼  circuit-breaker trips after 3 failures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7315200" y="3470148"/>
            <a:ext cx="3931920" cy="384048"/>
          </a:xfrm>
          <a:prstGeom prst="roundRect">
            <a:avLst>
              <a:gd name="adj" fmla="val 14286"/>
            </a:avLst>
          </a:prstGeom>
          <a:solidFill>
            <a:srgbClr val="1C2F4D"/>
          </a:solidFill>
          <a:ln/>
        </p:spPr>
      </p:sp>
      <p:sp>
        <p:nvSpPr>
          <p:cNvPr id="12" name="Text 9"/>
          <p:cNvSpPr/>
          <p:nvPr/>
        </p:nvSpPr>
        <p:spPr>
          <a:xfrm>
            <a:off x="7315200" y="347014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 AI Llama-3.1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315200" y="3854196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▼  circuit-breaker trips after 3 failures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7315200" y="4059936"/>
            <a:ext cx="3931920" cy="384048"/>
          </a:xfrm>
          <a:prstGeom prst="roundRect">
            <a:avLst>
              <a:gd name="adj" fmla="val 14286"/>
            </a:avLst>
          </a:prstGeom>
          <a:solidFill>
            <a:srgbClr val="1C2F4D"/>
          </a:solidFill>
          <a:ln/>
        </p:spPr>
      </p:sp>
      <p:sp>
        <p:nvSpPr>
          <p:cNvPr id="15" name="Text 12"/>
          <p:cNvSpPr/>
          <p:nvPr/>
        </p:nvSpPr>
        <p:spPr>
          <a:xfrm>
            <a:off x="7315200" y="4059936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OpenRouter Free Tier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7315200" y="4443984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▼  circuit-breaker trips after 3 failures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7315200" y="4649724"/>
            <a:ext cx="3931920" cy="384048"/>
          </a:xfrm>
          <a:prstGeom prst="roundRect">
            <a:avLst>
              <a:gd name="adj" fmla="val 14286"/>
            </a:avLst>
          </a:prstGeom>
          <a:solidFill>
            <a:srgbClr val="1C2F4D"/>
          </a:solidFill>
          <a:ln/>
        </p:spPr>
      </p:sp>
      <p:sp>
        <p:nvSpPr>
          <p:cNvPr id="18" name="Text 15"/>
          <p:cNvSpPr/>
          <p:nvPr/>
        </p:nvSpPr>
        <p:spPr>
          <a:xfrm>
            <a:off x="7315200" y="4649724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Ollama (fallback)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640080" y="544068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1C2F4D"/>
          </a:solidFill>
          <a:ln/>
          <a:effectLst>
            <a:outerShdw sx="100000" sy="100000" kx="0" ky="0" algn="bl" rotWithShape="0" blurRad="63500" dist="25400" dir="2700000">
              <a:srgbClr val="000000">
                <a:alpha val="25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640080" y="5440680"/>
            <a:ext cx="27203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104+ models · 14 providers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3360420" y="5440680"/>
            <a:ext cx="27203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Per-model latency tracking (P50)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6080760" y="5440680"/>
            <a:ext cx="27203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test winner injection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8801100" y="5440680"/>
            <a:ext cx="27203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120s circuit-breaker cooldown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TRON-X — Self-Hosted Autonomous AI Assistant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KNOWLEDGE &amp; RECALL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Memory &amp; RAG Pipeline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Retrieval Flow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6400800" cy="841248"/>
          </a:xfrm>
          <a:prstGeom prst="roundRect">
            <a:avLst>
              <a:gd name="adj" fmla="val 8696"/>
            </a:avLst>
          </a:prstGeom>
          <a:solidFill>
            <a:srgbClr val="16263F"/>
          </a:solidFill>
          <a:ln/>
          <a:effectLst>
            <a:outerShdw sx="100000" sy="100000" kx="0" ky="0" algn="bl" rotWithShape="0" blurRad="63500" dist="25400" dir="27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221992"/>
            <a:ext cx="603504" cy="603504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221992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600200" y="2167128"/>
            <a:ext cx="5349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Embed Query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600200" y="2487168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SentenceTransformers (all-MiniLM-L6-v2, 384-dim, CPU)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3035808"/>
            <a:ext cx="6400800" cy="841248"/>
          </a:xfrm>
          <a:prstGeom prst="roundRect">
            <a:avLst>
              <a:gd name="adj" fmla="val 8696"/>
            </a:avLst>
          </a:prstGeom>
          <a:solidFill>
            <a:srgbClr val="16263F"/>
          </a:solidFill>
          <a:ln/>
          <a:effectLst>
            <a:outerShdw sx="100000" sy="100000" kx="0" ky="0" algn="bl" rotWithShape="0" blurRad="63500" dist="25400" dir="27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04672" y="3154680"/>
            <a:ext cx="603504" cy="603504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2" name="Text 10"/>
          <p:cNvSpPr/>
          <p:nvPr/>
        </p:nvSpPr>
        <p:spPr>
          <a:xfrm>
            <a:off x="804672" y="315468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600200" y="3099816"/>
            <a:ext cx="5349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Search ChromaDB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600200" y="3419856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 collections searched in parallel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3968496"/>
            <a:ext cx="6400800" cy="841248"/>
          </a:xfrm>
          <a:prstGeom prst="roundRect">
            <a:avLst>
              <a:gd name="adj" fmla="val 8696"/>
            </a:avLst>
          </a:prstGeom>
          <a:solidFill>
            <a:srgbClr val="16263F"/>
          </a:solidFill>
          <a:ln/>
          <a:effectLst>
            <a:outerShdw sx="100000" sy="100000" kx="0" ky="0" algn="bl" rotWithShape="0" blurRad="63500" dist="25400" dir="27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04672" y="4087368"/>
            <a:ext cx="603504" cy="603504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7" name="Text 15"/>
          <p:cNvSpPr/>
          <p:nvPr/>
        </p:nvSpPr>
        <p:spPr>
          <a:xfrm>
            <a:off x="804672" y="408736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600200" y="4032504"/>
            <a:ext cx="5349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MMR Rerank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600200" y="4352544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&lt; 0.40 similarity; balances relevance &amp; diversity (λ = 0.5)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4901184"/>
            <a:ext cx="6400800" cy="841248"/>
          </a:xfrm>
          <a:prstGeom prst="roundRect">
            <a:avLst>
              <a:gd name="adj" fmla="val 8696"/>
            </a:avLst>
          </a:prstGeom>
          <a:solidFill>
            <a:srgbClr val="16263F"/>
          </a:solidFill>
          <a:ln/>
          <a:effectLst>
            <a:outerShdw sx="100000" sy="100000" kx="0" ky="0" algn="bl" rotWithShape="0" blurRad="63500" dist="25400" dir="27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04672" y="5020056"/>
            <a:ext cx="603504" cy="603504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22" name="Text 20"/>
          <p:cNvSpPr/>
          <p:nvPr/>
        </p:nvSpPr>
        <p:spPr>
          <a:xfrm>
            <a:off x="804672" y="5020056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600200" y="4965192"/>
            <a:ext cx="5349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Inject into Prompt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1600200" y="5285232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Top-5 chunks added to persona system prompt before LLM call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315200" y="1691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ChromaDB Collections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315200" y="2103120"/>
            <a:ext cx="4206240" cy="841248"/>
          </a:xfrm>
          <a:prstGeom prst="roundRect">
            <a:avLst>
              <a:gd name="adj" fmla="val 8696"/>
            </a:avLst>
          </a:prstGeom>
          <a:solidFill>
            <a:srgbClr val="1C2F4D"/>
          </a:solidFill>
          <a:ln/>
          <a:effectLst>
            <a:outerShdw sx="100000" sy="100000" kx="0" ky="0" algn="bl" rotWithShape="0" blurRad="63500" dist="25400" dir="2700000">
              <a:srgbClr val="00000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498080" y="2368296"/>
            <a:ext cx="310896" cy="310896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28" name="Text 26"/>
          <p:cNvSpPr/>
          <p:nvPr/>
        </p:nvSpPr>
        <p:spPr>
          <a:xfrm>
            <a:off x="8001000" y="2157984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conversations</a:t>
            </a:r>
            <a:endParaRPr lang="en-US" sz="13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chat turn, embedded for future retrieval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7315200" y="3035808"/>
            <a:ext cx="4206240" cy="841248"/>
          </a:xfrm>
          <a:prstGeom prst="roundRect">
            <a:avLst>
              <a:gd name="adj" fmla="val 8696"/>
            </a:avLst>
          </a:prstGeom>
          <a:solidFill>
            <a:srgbClr val="1C2F4D"/>
          </a:solidFill>
          <a:ln/>
          <a:effectLst>
            <a:outerShdw sx="100000" sy="100000" kx="0" ky="0" algn="bl" rotWithShape="0" blurRad="63500" dist="25400" dir="270000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498080" y="3300984"/>
            <a:ext cx="310896" cy="310896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31" name="Text 29"/>
          <p:cNvSpPr/>
          <p:nvPr/>
        </p:nvSpPr>
        <p:spPr>
          <a:xfrm>
            <a:off x="8001000" y="3090672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</a:t>
            </a:r>
            <a:endParaRPr lang="en-US" sz="13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Ingested PDFs, Word docs, web pages, notes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7315200" y="3968496"/>
            <a:ext cx="4206240" cy="841248"/>
          </a:xfrm>
          <a:prstGeom prst="roundRect">
            <a:avLst>
              <a:gd name="adj" fmla="val 8696"/>
            </a:avLst>
          </a:prstGeom>
          <a:solidFill>
            <a:srgbClr val="1C2F4D"/>
          </a:solidFill>
          <a:ln/>
          <a:effectLst>
            <a:outerShdw sx="100000" sy="100000" kx="0" ky="0" algn="bl" rotWithShape="0" blurRad="63500" dist="25400" dir="2700000">
              <a:srgbClr val="000000">
                <a:alpha val="2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498080" y="4233672"/>
            <a:ext cx="310896" cy="310896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34" name="Text 32"/>
          <p:cNvSpPr/>
          <p:nvPr/>
        </p:nvSpPr>
        <p:spPr>
          <a:xfrm>
            <a:off x="8001000" y="4023360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</a:t>
            </a:r>
            <a:endParaRPr lang="en-US" sz="13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 added facts</a:t>
            </a:r>
            <a:endParaRPr lang="en-US" sz="1350" dirty="0"/>
          </a:p>
        </p:txBody>
      </p:sp>
      <p:sp>
        <p:nvSpPr>
          <p:cNvPr id="35" name="Shape 33"/>
          <p:cNvSpPr/>
          <p:nvPr/>
        </p:nvSpPr>
        <p:spPr>
          <a:xfrm>
            <a:off x="7315200" y="4901184"/>
            <a:ext cx="4206240" cy="841248"/>
          </a:xfrm>
          <a:prstGeom prst="roundRect">
            <a:avLst>
              <a:gd name="adj" fmla="val 8696"/>
            </a:avLst>
          </a:prstGeom>
          <a:solidFill>
            <a:srgbClr val="1C2F4D"/>
          </a:solidFill>
          <a:ln/>
          <a:effectLst>
            <a:outerShdw sx="100000" sy="100000" kx="0" ky="0" algn="bl" rotWithShape="0" blurRad="63500" dist="25400" dir="2700000">
              <a:srgbClr val="000000">
                <a:alpha val="2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7498080" y="5166360"/>
            <a:ext cx="310896" cy="310896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37" name="Text 35"/>
          <p:cNvSpPr/>
          <p:nvPr/>
        </p:nvSpPr>
        <p:spPr>
          <a:xfrm>
            <a:off x="8001000" y="4956048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episodes</a:t>
            </a:r>
            <a:endParaRPr lang="en-US" sz="13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Episodic memory: summarized sessions with topic &amp; emotion metadata</a:t>
            </a:r>
            <a:endParaRPr lang="en-US" sz="1350" dirty="0"/>
          </a:p>
        </p:txBody>
      </p:sp>
      <p:sp>
        <p:nvSpPr>
          <p:cNvPr id="38" name="Shape 36"/>
          <p:cNvSpPr/>
          <p:nvPr/>
        </p:nvSpPr>
        <p:spPr>
          <a:xfrm>
            <a:off x="640080" y="5897880"/>
            <a:ext cx="10881360" cy="594360"/>
          </a:xfrm>
          <a:prstGeom prst="roundRect">
            <a:avLst>
              <a:gd name="adj" fmla="val 12308"/>
            </a:avLst>
          </a:prstGeom>
          <a:solidFill>
            <a:srgbClr val="1C2F4D"/>
          </a:solidFill>
          <a:ln/>
          <a:effectLst>
            <a:outerShdw sx="100000" sy="100000" kx="0" ky="0" algn="bl" rotWithShape="0" blurRad="63500" dist="25400" dir="2700000">
              <a:srgbClr val="000000">
                <a:alpha val="25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868680" y="5897880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Episodic Memory: after each chat turn, the LLM extracts {summary, topic, entities, emotion} — so TRON-X can later recall "last Tuesday we discussed your project deadline."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TRON-X — Self-Hosted Autonomous AI Assistant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MULTI-AGENT SYSTEM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Autonomous Agent Fleet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TaskCoordinator dispatches work to specialised agents — running them in parallel (asyncio.gather) or sequence, and streaming results over SSE as each agent finishes.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240280"/>
            <a:ext cx="2606040" cy="1783080"/>
          </a:xfrm>
          <a:prstGeom prst="roundRect">
            <a:avLst>
              <a:gd name="adj" fmla="val 4103"/>
            </a:avLst>
          </a:prstGeom>
          <a:solidFill>
            <a:srgbClr val="16263F"/>
          </a:solidFill>
          <a:ln/>
          <a:effectLst>
            <a:outerShdw sx="100000" sy="100000" kx="0" ky="0" algn="bl" rotWithShape="0" blurRad="63500" dist="25400" dir="27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668780" y="2377440"/>
            <a:ext cx="548640" cy="54864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7" name="Text 5"/>
          <p:cNvSpPr/>
          <p:nvPr/>
        </p:nvSpPr>
        <p:spPr>
          <a:xfrm>
            <a:off x="1668780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①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2990088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v2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3282696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Brave / Serper / DuckDuckGo web search + synthesis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447288" y="2240280"/>
            <a:ext cx="2606040" cy="1783080"/>
          </a:xfrm>
          <a:prstGeom prst="roundRect">
            <a:avLst>
              <a:gd name="adj" fmla="val 4103"/>
            </a:avLst>
          </a:prstGeom>
          <a:solidFill>
            <a:srgbClr val="16263F"/>
          </a:solidFill>
          <a:ln/>
          <a:effectLst>
            <a:outerShdw sx="100000" sy="100000" kx="0" ky="0" algn="bl" rotWithShape="0" blurRad="63500" dist="25400" dir="27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475988" y="2377440"/>
            <a:ext cx="548640" cy="54864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2" name="Text 10"/>
          <p:cNvSpPr/>
          <p:nvPr/>
        </p:nvSpPr>
        <p:spPr>
          <a:xfrm>
            <a:off x="4475988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②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84448" y="2990088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Browser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584448" y="3282696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singleton — navigate, scrape, fill forms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254496" y="2240280"/>
            <a:ext cx="2606040" cy="1783080"/>
          </a:xfrm>
          <a:prstGeom prst="roundRect">
            <a:avLst>
              <a:gd name="adj" fmla="val 4103"/>
            </a:avLst>
          </a:prstGeom>
          <a:solidFill>
            <a:srgbClr val="16263F"/>
          </a:solidFill>
          <a:ln/>
          <a:effectLst>
            <a:outerShdw sx="100000" sy="100000" kx="0" ky="0" algn="bl" rotWithShape="0" blurRad="63500" dist="25400" dir="27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283196" y="2377440"/>
            <a:ext cx="548640" cy="54864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7" name="Text 15"/>
          <p:cNvSpPr/>
          <p:nvPr/>
        </p:nvSpPr>
        <p:spPr>
          <a:xfrm>
            <a:off x="7283196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③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391656" y="2990088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391656" y="3282696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Sandboxed Python/JS/Bash execution with AST safety checks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061704" y="2240280"/>
            <a:ext cx="2606040" cy="1783080"/>
          </a:xfrm>
          <a:prstGeom prst="roundRect">
            <a:avLst>
              <a:gd name="adj" fmla="val 4103"/>
            </a:avLst>
          </a:prstGeom>
          <a:solidFill>
            <a:srgbClr val="16263F"/>
          </a:solidFill>
          <a:ln/>
          <a:effectLst>
            <a:outerShdw sx="100000" sy="100000" kx="0" ky="0" algn="bl" rotWithShape="0" blurRad="63500" dist="25400" dir="27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0090404" y="2377440"/>
            <a:ext cx="548640" cy="54864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22" name="Text 20"/>
          <p:cNvSpPr/>
          <p:nvPr/>
        </p:nvSpPr>
        <p:spPr>
          <a:xfrm>
            <a:off x="10090404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④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198864" y="2990088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Vision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198864" y="3282696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capture, OCR (Tesseract/EasyOCR), vision LLM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40080" y="4187952"/>
            <a:ext cx="2606040" cy="1783080"/>
          </a:xfrm>
          <a:prstGeom prst="roundRect">
            <a:avLst>
              <a:gd name="adj" fmla="val 4103"/>
            </a:avLst>
          </a:prstGeom>
          <a:solidFill>
            <a:srgbClr val="16263F"/>
          </a:solidFill>
          <a:ln/>
          <a:effectLst>
            <a:outerShdw sx="100000" sy="100000" kx="0" ky="0" algn="bl" rotWithShape="0" blurRad="63500" dist="25400" dir="27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1668780" y="4325112"/>
            <a:ext cx="548640" cy="54864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27" name="Text 25"/>
          <p:cNvSpPr/>
          <p:nvPr/>
        </p:nvSpPr>
        <p:spPr>
          <a:xfrm>
            <a:off x="1668780" y="43251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⑤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77240" y="493776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Calendar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77240" y="5230368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Calendar OAuth2 CRUD + reminders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447288" y="4187952"/>
            <a:ext cx="2606040" cy="1783080"/>
          </a:xfrm>
          <a:prstGeom prst="roundRect">
            <a:avLst>
              <a:gd name="adj" fmla="val 4103"/>
            </a:avLst>
          </a:prstGeom>
          <a:solidFill>
            <a:srgbClr val="16263F"/>
          </a:solidFill>
          <a:ln/>
          <a:effectLst>
            <a:outerShdw sx="100000" sy="100000" kx="0" ky="0" algn="bl" rotWithShape="0" blurRad="63500" dist="25400" dir="270000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475988" y="4325112"/>
            <a:ext cx="548640" cy="54864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32" name="Text 30"/>
          <p:cNvSpPr/>
          <p:nvPr/>
        </p:nvSpPr>
        <p:spPr>
          <a:xfrm>
            <a:off x="4475988" y="43251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⑥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3584448" y="493776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Email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3584448" y="5230368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IMAP reader + LLM inbox summarizer &amp; drafts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254496" y="4187952"/>
            <a:ext cx="2606040" cy="1783080"/>
          </a:xfrm>
          <a:prstGeom prst="roundRect">
            <a:avLst>
              <a:gd name="adj" fmla="val 4103"/>
            </a:avLst>
          </a:prstGeom>
          <a:solidFill>
            <a:srgbClr val="16263F"/>
          </a:solidFill>
          <a:ln/>
          <a:effectLst>
            <a:outerShdw sx="100000" sy="100000" kx="0" ky="0" algn="bl" rotWithShape="0" blurRad="63500" dist="25400" dir="2700000">
              <a:srgbClr val="000000">
                <a:alpha val="2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7283196" y="4325112"/>
            <a:ext cx="548640" cy="54864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37" name="Text 35"/>
          <p:cNvSpPr/>
          <p:nvPr/>
        </p:nvSpPr>
        <p:spPr>
          <a:xfrm>
            <a:off x="7283196" y="43251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⑦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391656" y="493776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Scheduler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391656" y="5230368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APScheduler wrapper + natural-language schedule parsing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9061704" y="4187952"/>
            <a:ext cx="2606040" cy="1783080"/>
          </a:xfrm>
          <a:prstGeom prst="roundRect">
            <a:avLst>
              <a:gd name="adj" fmla="val 4103"/>
            </a:avLst>
          </a:prstGeom>
          <a:solidFill>
            <a:srgbClr val="16263F"/>
          </a:solidFill>
          <a:ln/>
          <a:effectLst>
            <a:outerShdw sx="100000" sy="100000" kx="0" ky="0" algn="bl" rotWithShape="0" blurRad="63500" dist="25400" dir="2700000">
              <a:srgbClr val="000000">
                <a:alpha val="2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10090404" y="4325112"/>
            <a:ext cx="548640" cy="54864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42" name="Text 40"/>
          <p:cNvSpPr/>
          <p:nvPr/>
        </p:nvSpPr>
        <p:spPr>
          <a:xfrm>
            <a:off x="10090404" y="43251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⑧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9198864" y="493776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IoT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9198864" y="5230368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Assistant REST + MQTT smart-home control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640080" y="605332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includes WhatsApp automation and a Task Decomposer that uses an LLM to plan multi-step agent pipelines automatically.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TRON-X — Self-Hosted Autonomous AI Assistant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PERCEPTION &amp; CONTROL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Voice, Vision &amp; Smart Home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440680" cy="2286000"/>
          </a:xfrm>
          <a:prstGeom prst="roundRect">
            <a:avLst>
              <a:gd name="adj" fmla="val 3200"/>
            </a:avLst>
          </a:prstGeom>
          <a:solidFill>
            <a:srgbClr val="16263F"/>
          </a:solidFill>
          <a:ln/>
          <a:effectLst>
            <a:outerShdw sx="100000" sy="100000" kx="0" ky="0" algn="bl" rotWithShape="0" blurRad="63500" dist="25400" dir="27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874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Voice Pipeline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2286000"/>
            <a:ext cx="50292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STT — Groq Whisper API</a:t>
            </a:r>
            <a:endParaRPr lang="en-US" sz="1250" dirty="0"/>
          </a:p>
          <a:p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speech-to-text transcription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TTS — cascading fallback chain</a:t>
            </a:r>
            <a:endParaRPr lang="en-US" sz="1250" dirty="0"/>
          </a:p>
          <a:p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Kokoro-ONNX (local) → ElevenLabs → edge-tts → pyttsx3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Sentence-streaming synthesis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Splits LLM output on sentence boundaries → time-to-first-audio ~1–2s (down from 3–8s)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63640" y="1737360"/>
            <a:ext cx="5285232" cy="2286000"/>
          </a:xfrm>
          <a:prstGeom prst="roundRect">
            <a:avLst>
              <a:gd name="adj" fmla="val 3200"/>
            </a:avLst>
          </a:prstGeom>
          <a:solidFill>
            <a:srgbClr val="16263F"/>
          </a:solidFill>
          <a:ln/>
          <a:effectLst>
            <a:outerShdw sx="100000" sy="100000" kx="0" ky="0" algn="bl" rotWithShape="0" blurRad="63500" dist="25400" dir="27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92240" y="1874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Vision Pipeline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92240" y="2286000"/>
            <a:ext cx="49377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Screen Capture</a:t>
            </a:r>
            <a:endParaRPr lang="en-US" sz="1250" dirty="0"/>
          </a:p>
          <a:p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mss library grabs the current screen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OCR</a:t>
            </a:r>
            <a:endParaRPr lang="en-US" sz="1250" dirty="0"/>
          </a:p>
          <a:p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Tesseract + EasyOCR extract on-screen text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Vision LLM Description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2.0 Flash describes UI / content for the assistant to reason about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4206240"/>
            <a:ext cx="5440680" cy="2103120"/>
          </a:xfrm>
          <a:prstGeom prst="roundRect">
            <a:avLst>
              <a:gd name="adj" fmla="val 3478"/>
            </a:avLst>
          </a:prstGeom>
          <a:solidFill>
            <a:srgbClr val="1C2F4D"/>
          </a:solidFill>
          <a:ln/>
          <a:effectLst>
            <a:outerShdw sx="100000" sy="100000" kx="0" ky="0" algn="bl" rotWithShape="0" blurRad="63500" dist="25400" dir="27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68680" y="43434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Home &amp; IoT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68680" y="4754880"/>
            <a:ext cx="5029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Assistant REST API — states, scenes, scripts, automations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(paho) — publish/subscribe to devices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Natural-language → device mapping, e.g. "turn off all bedroom lights"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listener for real-time HA events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63640" y="4206240"/>
            <a:ext cx="5285232" cy="2103120"/>
          </a:xfrm>
          <a:prstGeom prst="roundRect">
            <a:avLst>
              <a:gd name="adj" fmla="val 3478"/>
            </a:avLst>
          </a:prstGeom>
          <a:solidFill>
            <a:srgbClr val="1C2F4D"/>
          </a:solidFill>
          <a:ln/>
          <a:effectLst>
            <a:outerShdw sx="100000" sy="100000" kx="0" ky="0" algn="bl" rotWithShape="0" blurRad="63500" dist="25400" dir="27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92240" y="43434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Windows System Control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92240" y="475488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psutil + PowerShell — volume, brightness, processes, services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Safety: command whitelist + 17 blocked-pattern regexes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 process / critical-service guards prevent accidental shutdowns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destructive operations require confirm=True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TRON-X — Self-Hosted Autonomous AI Assistant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PROBLEM SOLVING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Engineering Challenges</a:t>
            </a:r>
            <a:endParaRPr lang="en-US" sz="3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45920"/>
          <a:ext cx="10881360" cy="4352544"/>
        </p:xfrm>
        <a:graphic>
          <a:graphicData uri="http://schemas.openxmlformats.org/drawingml/2006/table">
            <a:tbl>
              <a:tblPr/>
              <a:tblGrid>
                <a:gridCol w="5120640"/>
                <a:gridCol w="5760720"/>
              </a:tblGrid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Challenge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D3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Solution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D3EE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Async FastAPI vs. blocking libraries (IMAP, psutil, Playwright sync API)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C2F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Wrap every blocking call in asyncio.get_event_loop().run_in_executor()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C2F4D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Different LLM providers support different parameters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6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_filter_params() + per-provider safe_params in models.json silently drop unsupported fields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63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Playwright browser singleton vs. async event-loop timing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C2F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Lazily initialise an asyncio.Lock via a factory function once the loop is running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C2F4D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 context window overflow on long chats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6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_trim_history() pops oldest message pairs (measured with tiktoken) until under 8,000 tokens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63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latency before first spoken response (3–8s)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C2F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Sentence-streaming TTS: synthesize each sentence as the LLM streams it (TTFA ~1–2s)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C2F4D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SentenceTransformers cold-start delay (4–8s)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6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Pre-warm the embedding model on startup via the FastAPI lifespan handler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63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TRON-X — Self-Hosted Autonomous AI Assistant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SUMMARY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Results, Roadmap &amp; Conclusion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486400" cy="2743200"/>
          </a:xfrm>
          <a:prstGeom prst="roundRect">
            <a:avLst>
              <a:gd name="adj" fmla="val 2667"/>
            </a:avLst>
          </a:prstGeom>
          <a:solidFill>
            <a:srgbClr val="16263F"/>
          </a:solidFill>
          <a:ln/>
          <a:effectLst>
            <a:outerShdw sx="100000" sy="100000" kx="0" ky="0" algn="bl" rotWithShape="0" blurRad="63500" dist="25400" dir="27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8288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Was Achieved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2286000"/>
            <a:ext cx="50292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Production-style FastAPI backend with 240+ endpoints across 14 domains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Fault-tolerant multi-provider LLM router (106 models, 14 providers)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RAG + episodic memory over ChromaDB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autonomous agents coordinated for parallel task execution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(STT/TTS), vision (OCR), IoT, calendar &amp; email integrations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Dockerised, with auth + rate limiting for production hardening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63640" y="1691640"/>
            <a:ext cx="5285232" cy="2743200"/>
          </a:xfrm>
          <a:prstGeom prst="roundRect">
            <a:avLst>
              <a:gd name="adj" fmla="val 2667"/>
            </a:avLst>
          </a:prstGeom>
          <a:solidFill>
            <a:srgbClr val="16263F"/>
          </a:solidFill>
          <a:ln/>
          <a:effectLst>
            <a:outerShdw sx="100000" sy="100000" kx="0" ky="0" algn="bl" rotWithShape="0" blurRad="63500" dist="25400" dir="27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92240" y="18288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Roadmap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92240" y="2286000"/>
            <a:ext cx="49377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companion app for remote control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local models to reduce cloud dependency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Expanded plugin marketplace for community agents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Multi-user support with per-user memory isolation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CAD agent (Python 3.13 / CadQuery compatibility)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robust WhatsApp bridge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4617720"/>
            <a:ext cx="10881360" cy="1508760"/>
          </a:xfrm>
          <a:prstGeom prst="roundRect">
            <a:avLst>
              <a:gd name="adj" fmla="val 4848"/>
            </a:avLst>
          </a:prstGeom>
          <a:solidFill>
            <a:srgbClr val="1C2F4D"/>
          </a:solidFill>
          <a:ln/>
          <a:effectLst>
            <a:outerShdw sx="100000" sy="100000" kx="0" ky="0" algn="bl" rotWithShape="0" blurRad="63500" dist="25400" dir="27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68680" y="475488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68680" y="512064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TRON-X demonstrates an end-to-end, full-stack approach to building autonomous AI systems — combining backend engineering, LLM orchestration, RAG, multi-agent coordination, and real-world device/service integration into one cohesive, self-hosted platform.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40080" y="6355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00800" y="64008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Vishnu Sharma  ·  github.com/vishnusharma1904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TRON-X — Self-Hosted Autonomous AI Assistant</dc:title>
  <dc:subject>PptxGenJS Presentation</dc:subject>
  <dc:creator>Vishnu Sharma</dc:creator>
  <cp:lastModifiedBy>Vishnu Sharma</cp:lastModifiedBy>
  <cp:revision>1</cp:revision>
  <dcterms:created xsi:type="dcterms:W3CDTF">2026-06-15T08:04:42Z</dcterms:created>
  <dcterms:modified xsi:type="dcterms:W3CDTF">2026-06-15T08:04:42Z</dcterms:modified>
</cp:coreProperties>
</file>